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24"/>
  </p:notesMasterIdLst>
  <p:sldIdLst>
    <p:sldId id="275" r:id="rId4"/>
    <p:sldId id="276" r:id="rId5"/>
    <p:sldId id="281" r:id="rId6"/>
    <p:sldId id="282" r:id="rId7"/>
    <p:sldId id="283" r:id="rId8"/>
    <p:sldId id="284" r:id="rId9"/>
    <p:sldId id="285" r:id="rId10"/>
    <p:sldId id="286" r:id="rId11"/>
    <p:sldId id="288" r:id="rId12"/>
    <p:sldId id="299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60" r:id="rId23"/>
  </p:sldIdLst>
  <p:sldSz cx="10080625" cy="7559675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5"/>
    <p:restoredTop sz="94631"/>
  </p:normalViewPr>
  <p:slideViewPr>
    <p:cSldViewPr showGuides="1">
      <p:cViewPr varScale="1">
        <p:scale>
          <a:sx n="71" d="100"/>
          <a:sy n="71" d="100"/>
        </p:scale>
        <p:origin x="1579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1"/>
          <p:cNvSpPr>
            <a:spLocks noGrp="1"/>
          </p:cNvSpPr>
          <p:nvPr>
            <p:ph type="sldImg"/>
          </p:nvPr>
        </p:nvSpPr>
        <p:spPr>
          <a:xfrm>
            <a:off x="215900" y="812800"/>
            <a:ext cx="7126288" cy="40068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6" charset="0"/>
                <a:cs typeface="DejaVu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/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ea typeface="+mn-ea"/>
              <a:cs typeface="DejaVu Sans" charset="0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6" charset="0"/>
                <a:cs typeface="DejaVu Sans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/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ea typeface="+mn-ea"/>
              <a:cs typeface="DejaVu Sans" charset="0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6" charset="0"/>
                <a:cs typeface="DejaVu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/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ea typeface="+mn-ea"/>
              <a:cs typeface="DejaVu Sans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p>
            <a:pPr lvl="0" algn="r" defTabSz="4572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solidFill>
                  <a:srgbClr val="000000"/>
                </a:solidFill>
                <a:latin typeface="Times New Roman" panose="02020603050405020304" pitchFamily="16" charset="0"/>
                <a:cs typeface="DejaVu Sans" charset="0"/>
              </a:rPr>
            </a:fld>
            <a:endParaRPr lang="en-IN" altLang="en-US" sz="1400" dirty="0">
              <a:solidFill>
                <a:srgbClr val="000000"/>
              </a:solidFill>
              <a:latin typeface="Times New Roman" panose="02020603050405020304" pitchFamily="16" charset="0"/>
              <a:ea typeface="DejaVu Sans" charset="0"/>
              <a:cs typeface="DejaVu San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31747" name="Rectangle 1"/>
          <p:cNvSpPr>
            <a:spLocks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1748" name="Rectangle 2"/>
          <p:cNvSpPr/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7"/>
          <p:cNvGrpSpPr/>
          <p:nvPr/>
        </p:nvGrpSpPr>
        <p:grpSpPr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4" name="Straight Connector 2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B70E0-FA58-4AC9-A854-FB6E30A16EBB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1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765"/>
            </a:lvl1pPr>
            <a:lvl2pPr marL="504190" indent="0">
              <a:buNone/>
              <a:defRPr sz="1765"/>
            </a:lvl2pPr>
            <a:lvl3pPr marL="1007745" indent="0">
              <a:buNone/>
              <a:defRPr sz="1765"/>
            </a:lvl3pPr>
            <a:lvl4pPr marL="1511935" indent="0">
              <a:buNone/>
              <a:defRPr sz="1765"/>
            </a:lvl4pPr>
            <a:lvl5pPr marL="2016125" indent="0">
              <a:buNone/>
              <a:defRPr sz="1765"/>
            </a:lvl5pPr>
            <a:lvl6pPr marL="2519680" indent="0">
              <a:buNone/>
              <a:defRPr sz="1765"/>
            </a:lvl6pPr>
            <a:lvl7pPr marL="3023870" indent="0">
              <a:buNone/>
              <a:defRPr sz="1765"/>
            </a:lvl7pPr>
            <a:lvl8pPr marL="3528060" indent="0">
              <a:buNone/>
              <a:defRPr sz="1765"/>
            </a:lvl8pPr>
            <a:lvl9pPr marL="4031615" indent="0">
              <a:buNone/>
              <a:defRPr sz="1765"/>
            </a:lvl9pPr>
          </a:lstStyle>
          <a:p>
            <a:pPr marL="0" marR="0" lvl="0" indent="0" algn="ctr" defTabSz="503555" rtl="0" eaLnBrk="0" fontAlgn="base" latinLnBrk="0" hangingPunct="0">
              <a:lnSpc>
                <a:spcPct val="100000"/>
              </a:lnSpc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82" charset="2"/>
              <a:buNone/>
              <a:defRPr/>
            </a:pPr>
            <a:r>
              <a: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5"/>
            </a:lvl1pPr>
            <a:lvl2pPr marL="504190" indent="0">
              <a:buNone/>
              <a:defRPr sz="1325"/>
            </a:lvl2pPr>
            <a:lvl3pPr marL="1007745" indent="0">
              <a:buNone/>
              <a:defRPr sz="1100"/>
            </a:lvl3pPr>
            <a:lvl4pPr marL="1511935" indent="0">
              <a:buNone/>
              <a:defRPr sz="990"/>
            </a:lvl4pPr>
            <a:lvl5pPr marL="2016125" indent="0">
              <a:buNone/>
              <a:defRPr sz="990"/>
            </a:lvl5pPr>
            <a:lvl6pPr marL="2519680" indent="0">
              <a:buNone/>
              <a:defRPr sz="990"/>
            </a:lvl6pPr>
            <a:lvl7pPr marL="3023870" indent="0">
              <a:buNone/>
              <a:defRPr sz="990"/>
            </a:lvl7pPr>
            <a:lvl8pPr marL="3528060" indent="0">
              <a:buNone/>
              <a:defRPr sz="990"/>
            </a:lvl8pPr>
            <a:lvl9pPr marL="4031615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72C5124-F865-44FC-B8AE-BCA1DC028952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7421C-F62E-4080-9BB3-EAD0E76367E5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75469" y="1270765"/>
            <a:ext cx="8929688" cy="654844"/>
          </a:xfrm>
        </p:spPr>
        <p:txBody>
          <a:bodyPr lIns="0" tIns="0" rIns="0" bIns="0"/>
          <a:lstStyle>
            <a:lvl1pPr algn="ctr" fontAlgn="base">
              <a:defRPr sz="2645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7"/>
          <p:cNvGrpSpPr/>
          <p:nvPr/>
        </p:nvGrpSpPr>
        <p:grpSpPr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4" name="Straight Connector 2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1B70E0-FA58-4AC9-A854-FB6E30A16EBB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1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765"/>
            </a:lvl1pPr>
            <a:lvl2pPr marL="504190" indent="0">
              <a:buNone/>
              <a:defRPr sz="1765"/>
            </a:lvl2pPr>
            <a:lvl3pPr marL="1007745" indent="0">
              <a:buNone/>
              <a:defRPr sz="1765"/>
            </a:lvl3pPr>
            <a:lvl4pPr marL="1511935" indent="0">
              <a:buNone/>
              <a:defRPr sz="1765"/>
            </a:lvl4pPr>
            <a:lvl5pPr marL="2016125" indent="0">
              <a:buNone/>
              <a:defRPr sz="1765"/>
            </a:lvl5pPr>
            <a:lvl6pPr marL="2519680" indent="0">
              <a:buNone/>
              <a:defRPr sz="1765"/>
            </a:lvl6pPr>
            <a:lvl7pPr marL="3023870" indent="0">
              <a:buNone/>
              <a:defRPr sz="1765"/>
            </a:lvl7pPr>
            <a:lvl8pPr marL="3528060" indent="0">
              <a:buNone/>
              <a:defRPr sz="1765"/>
            </a:lvl8pPr>
            <a:lvl9pPr marL="4031615" indent="0">
              <a:buNone/>
              <a:defRPr sz="1765"/>
            </a:lvl9pPr>
          </a:lstStyle>
          <a:p>
            <a:pPr marL="0" marR="0" lvl="0" indent="0" algn="ctr" defTabSz="503555" rtl="0" eaLnBrk="0" fontAlgn="base" latinLnBrk="0" hangingPunct="0">
              <a:lnSpc>
                <a:spcPct val="100000"/>
              </a:lnSpc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82" charset="2"/>
              <a:buNone/>
              <a:defRPr/>
            </a:pPr>
            <a:r>
              <a: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5"/>
            </a:lvl1pPr>
            <a:lvl2pPr marL="504190" indent="0">
              <a:buNone/>
              <a:defRPr sz="1325"/>
            </a:lvl2pPr>
            <a:lvl3pPr marL="1007745" indent="0">
              <a:buNone/>
              <a:defRPr sz="1100"/>
            </a:lvl3pPr>
            <a:lvl4pPr marL="1511935" indent="0">
              <a:buNone/>
              <a:defRPr sz="990"/>
            </a:lvl4pPr>
            <a:lvl5pPr marL="2016125" indent="0">
              <a:buNone/>
              <a:defRPr sz="990"/>
            </a:lvl5pPr>
            <a:lvl6pPr marL="2519680" indent="0">
              <a:buNone/>
              <a:defRPr sz="990"/>
            </a:lvl6pPr>
            <a:lvl7pPr marL="3023870" indent="0">
              <a:buNone/>
              <a:defRPr sz="990"/>
            </a:lvl7pPr>
            <a:lvl8pPr marL="3528060" indent="0">
              <a:buNone/>
              <a:defRPr sz="990"/>
            </a:lvl8pPr>
            <a:lvl9pPr marL="4031615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72C5124-F865-44FC-B8AE-BCA1DC028952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endParaRPr kumimoji="0" lang="en-US" sz="8820" b="0" i="0" u="none" strike="noStrike" kern="1200" cap="none" spc="0" normalizeH="0" baseline="0" noProof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7421C-F62E-4080-9BB3-EAD0E76367E5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4190" indent="0">
              <a:buFontTx/>
              <a:buNone/>
              <a:defRPr/>
            </a:lvl2pPr>
            <a:lvl3pPr marL="1007745" indent="0">
              <a:buFontTx/>
              <a:buNone/>
              <a:defRPr/>
            </a:lvl3pPr>
            <a:lvl4pPr marL="1511935" indent="0">
              <a:buFontTx/>
              <a:buNone/>
              <a:defRPr/>
            </a:lvl4pPr>
            <a:lvl5pPr marL="201612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6"/>
          <p:cNvGrpSpPr/>
          <p:nvPr/>
        </p:nvGrpSpPr>
        <p:grpSpPr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503555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880" indent="-3143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9205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403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77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96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52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1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6"/>
          <p:cNvGrpSpPr/>
          <p:nvPr/>
        </p:nvGrpSpPr>
        <p:grpSpPr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E2C99A-E84A-4EE0-9E52-65E7DC34D5A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hf sldNum="0" hdr="0" ftr="0" dt="0"/>
  <p:txStyles>
    <p:titleStyle>
      <a:lvl1pPr algn="l" defTabSz="503555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880" indent="-3143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9205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403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77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96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52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1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82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en-US" altLang="en-IN" b="1" dirty="0">
                <a:latin typeface="Times New Roman" panose="02020603050405020304" pitchFamily="16" charset="0"/>
                <a:cs typeface="Times New Roman" panose="02020603050405020304" pitchFamily="16" charset="0"/>
              </a:rPr>
              <a:t> PG Management System</a:t>
            </a:r>
            <a:endParaRPr lang="en-US" altLang="en-IN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Theme- </a:t>
            </a:r>
            <a:r>
              <a:rPr lang="en-US" altLang="en-GB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SDG Goal 11 – Sustainable Cities and Communities</a:t>
            </a:r>
            <a:endParaRPr lang="en-US" altLang="en-GB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Category- Software</a:t>
            </a:r>
            <a:endParaRPr lang="en-US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Group No - 3</a:t>
            </a:r>
            <a:endParaRPr lang="en-US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Group Members- Swayam Rout, Aditya Salvi, Dhruv Ranim, Tanmay Repale</a:t>
            </a:r>
            <a:endParaRPr lang="en-US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Guide- Prof.Adesh Hardas</a:t>
            </a:r>
            <a:endParaRPr lang="en-US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611505"/>
            <a:ext cx="7165975" cy="1357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</a:rPr>
              <a:t>Introduction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Background &amp; Importance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Rapid growth of Paying Guest (PG) accommodations in urban areas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Most PGs still use Offline rent records, this leads to Data loss and Lack of transparency.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Supports SDG 11 – Sustainable Cities and Communities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Promotes organized urban living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Encourages digital infrastructure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Current Challenges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Manual tenant record management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: Time taking process to note down all the records.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centralized complaint tracking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: Manual communication can cause loss of details and forgetness.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lifecycle tracking (Active / Notice / Left):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You don’t have a proper data who was or will be in your PG.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Lack of transparency between tenant and admin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</a:t>
            </a:r>
            <a:endParaRPr lang="en-US" altLang="en-US" u="sng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Security risks in storing personal data: 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The admin should not be able to see the passwords, that is inevitable in a traditional PG System.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331595"/>
            <a:ext cx="6997700" cy="4278313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Motivation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Need for transparent PG administration: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Both admins and the tenants should be able to see relevant information for transparancy.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Reduce paperwork and human errors: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No more manual tiem consuming writing or reading. Just normal scanning will be enough, time saivng and efficient.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Secure digital data handling: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All the passwords are incrypted no loss of data with good password management.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Objectives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Develop a centralized web-based PG system</a:t>
            </a:r>
            <a:endParaRPr lang="en-US" altLang="en-US" u="sng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Implement secure authentication (bcrypt hashing)</a:t>
            </a:r>
            <a:endParaRPr lang="en-US" altLang="en-US" u="sng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Provide complaint tracking module</a:t>
            </a:r>
            <a:endParaRPr lang="en-US" altLang="en-US" u="sng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Literature Survey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640840"/>
            <a:ext cx="6997700" cy="4278313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Analysis of Existing Systems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Many PGs use Excel sheets or manual registers: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Causes errors and data loss.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integrated complaint resolution system: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Even if tenants complains there is no proper proof and it can be ignored by the admins or the admin can forget.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lifecycle automation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: No proper knowledge of who is and will be in your PG.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Lack of real-time data access</a:t>
            </a:r>
            <a:endParaRPr lang="en-US" altLang="en-US" u="sng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Weak authentication mechanisms: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If the tenants is actually a tenant in your PG the access should be denied if the authentication does not matches but this cannot be done in traditional methods.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Limitations of Existing Systems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979295"/>
            <a:ext cx="6997700" cy="4278313"/>
          </a:xfrm>
        </p:spPr>
        <p:txBody>
          <a:bodyPr/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Paper-based data storage: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No proper storage of data. You cannot possibly able to see and read all the records and not do mistakes.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centralized database: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There is no proper way of storing the details. Its just a formality.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Manual complaint handling: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Complains get ignored most of the time. There is not proof so there is nothing tenant can do.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lifecycle tracking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: You dont know if the tenant lived for how much time.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Data security vulnerabilities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: If the register get stolen then all the data is lost without any back up.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 role-based access control: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Anyone with the register can see the details of all the individual and it does not matter. There is not protection here.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Literature Survey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64235" y="2267585"/>
          <a:ext cx="7412355" cy="469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540"/>
                <a:gridCol w="1399540"/>
                <a:gridCol w="1399540"/>
                <a:gridCol w="1399540"/>
                <a:gridCol w="1814195"/>
              </a:tblGrid>
              <a:tr h="731520"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Author / Source</a:t>
                      </a:r>
                      <a:endParaRPr sz="24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Technique Used</a:t>
                      </a:r>
                      <a:endParaRPr sz="24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Platform</a:t>
                      </a:r>
                      <a:endParaRPr sz="24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Key Results</a:t>
                      </a:r>
                      <a:endParaRPr sz="24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Limitations</a:t>
                      </a:r>
                      <a:endParaRPr sz="24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91440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MySQL Docs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Relational DBMS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MySQL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Structured data storage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Requires backend integration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21920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Node.js Docs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Event-driven backend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Node.js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Fast server-side processing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Needs security implementation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91440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Express.js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REST API framework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Express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Easy routing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 built-in authentication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91440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bcrypt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Password hashing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Node.js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Secure password storage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Adds computational cost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Problem statement and Objectives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Problem Statement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Existing PG management methods are manual, inefficient, and insecure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Lack of centralized system leads to poor transparency and delays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Need for secure, automated, web-based solution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Project Objectives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Centralize PG operations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Implement role-based access (Admin / Tenant)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Enable complaint monitoring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Proposed Methodology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830" y="1547495"/>
            <a:ext cx="7667625" cy="427863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Tenant Module</a:t>
            </a:r>
            <a:endParaRPr lang="en-US" altLang="en-US" b="1"/>
          </a:p>
          <a:p>
            <a:r>
              <a:rPr lang="en-US" altLang="en-US">
                <a:sym typeface="+mn-ea"/>
              </a:rPr>
              <a:t>Registration: Tenant themselves will register no manual writing details here. </a:t>
            </a:r>
            <a:endParaRPr lang="en-US" altLang="en-US"/>
          </a:p>
          <a:p>
            <a:r>
              <a:rPr lang="en-US" altLang="en-US">
                <a:sym typeface="+mn-ea"/>
              </a:rPr>
              <a:t>Login (bcrypt hashed password): The password entered by the tenant will be hashed no admins can see it and access their portal no admin power use. </a:t>
            </a:r>
            <a:endParaRPr lang="en-US" altLang="en-US"/>
          </a:p>
          <a:p>
            <a:r>
              <a:rPr lang="en-US" altLang="en-US">
                <a:sym typeface="+mn-ea"/>
              </a:rPr>
              <a:t>File complaint: FIling complain will actually go to admin and no ignorance here. You will have to proof. </a:t>
            </a:r>
            <a:endParaRPr lang="en-US" altLang="en-US"/>
          </a:p>
          <a:p>
            <a:r>
              <a:rPr lang="en-US" altLang="en-US">
                <a:sym typeface="+mn-ea"/>
              </a:rPr>
              <a:t>Apply notice: Notice for leaving the PG this will ensure a lifecycle of the tenant in your PG. They can apply directly from their portal. </a:t>
            </a:r>
            <a:endParaRPr lang="en-US" altLang="en-US"/>
          </a:p>
          <a:p>
            <a:r>
              <a:rPr lang="en-US" altLang="en-US">
                <a:sym typeface="+mn-ea"/>
              </a:rPr>
              <a:t>View tenure status: Tenants can see how much time does athey have left in their PG. 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Proposed Methodology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830" y="1547495"/>
            <a:ext cx="7667625" cy="427863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Admin Module</a:t>
            </a:r>
            <a:endParaRPr lang="en-US" altLang="en-US" b="1"/>
          </a:p>
          <a:p>
            <a:r>
              <a:rPr lang="en-US" altLang="en-US" u="sng">
                <a:sym typeface="+mn-ea"/>
              </a:rPr>
              <a:t>View tenants:</a:t>
            </a:r>
            <a:r>
              <a:rPr lang="en-US" altLang="en-US">
                <a:sym typeface="+mn-ea"/>
              </a:rPr>
              <a:t> Admins can see the tenants details right when they login, and because of technology they don’t have to manually read to see the data.</a:t>
            </a:r>
            <a:endParaRPr lang="en-US" altLang="en-US"/>
          </a:p>
          <a:p>
            <a:r>
              <a:rPr lang="en-US" altLang="en-US" u="sng">
                <a:sym typeface="+mn-ea"/>
              </a:rPr>
              <a:t>Monitor complaints: </a:t>
            </a:r>
            <a:r>
              <a:rPr lang="en-US" altLang="en-US">
                <a:sym typeface="+mn-ea"/>
              </a:rPr>
              <a:t>Complaints are easy to access and cannot be forgetablle. </a:t>
            </a:r>
            <a:endParaRPr lang="en-US" altLang="en-US"/>
          </a:p>
          <a:p>
            <a:r>
              <a:rPr lang="en-US" altLang="en-US" u="sng">
                <a:sym typeface="+mn-ea"/>
              </a:rPr>
              <a:t>Update complaint status:</a:t>
            </a:r>
            <a:r>
              <a:rPr lang="en-US" altLang="en-US">
                <a:sym typeface="+mn-ea"/>
              </a:rPr>
              <a:t> The complain status can be modified by the admin to notify that the problem is solved. </a:t>
            </a:r>
            <a:endParaRPr lang="en-US" altLang="en-US"/>
          </a:p>
          <a:p>
            <a:r>
              <a:rPr lang="en-US" altLang="en-US" u="sng">
                <a:sym typeface="+mn-ea"/>
              </a:rPr>
              <a:t>Track lifecycle:</a:t>
            </a:r>
            <a:r>
              <a:rPr lang="en-US" altLang="en-US">
                <a:sym typeface="+mn-ea"/>
              </a:rPr>
              <a:t> Admins will be able to see the exact time interval the tenants was in their PG. </a:t>
            </a:r>
            <a:endParaRPr lang="en-US" altLang="en-US"/>
          </a:p>
          <a:p>
            <a:r>
              <a:rPr lang="en-US" altLang="en-US" u="sng">
                <a:sym typeface="+mn-ea"/>
              </a:rPr>
              <a:t>Manage rooms:</a:t>
            </a:r>
            <a:r>
              <a:rPr lang="en-US" altLang="en-US">
                <a:sym typeface="+mn-ea"/>
              </a:rPr>
              <a:t> Allocation of rooms are much quicker and efficient. 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510" y="683260"/>
            <a:ext cx="4076065" cy="6593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640" y="467360"/>
            <a:ext cx="59651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Experimental Setup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619250"/>
            <a:ext cx="6997700" cy="4278313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Software Used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Node.js 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Used as a connection to all the backend database and the frontend. Using APIs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Express.js: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Assistance the Node.js with the APIs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MySQL: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Used as a database for storing the data.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HTML / CSS / JavaScript: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For our frontend website and for our backend.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 u="sng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bcrypt library:</a:t>
            </a:r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Hashing of the passwords for privacy. 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Dataset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Tenant details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Room details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Complaint records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Rent &amp; tenure data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Implementation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" y="1480820"/>
            <a:ext cx="5329555" cy="3018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960" y="4499610"/>
            <a:ext cx="5970905" cy="30181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Implementation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695" y="1691640"/>
            <a:ext cx="5026025" cy="28403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70" y="4572000"/>
            <a:ext cx="6096635" cy="28403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Implementation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1830" y="2625725"/>
            <a:ext cx="6997700" cy="37884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Results and Analysis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Performance &amp; Impact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100% Digital Record Storage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Eliminated paper usage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Reduced manual errors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Faster complaint resolution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Improved transparency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Results and Analysis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671830" y="2381250"/>
          <a:ext cx="7919085" cy="3235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9695"/>
                <a:gridCol w="2639695"/>
                <a:gridCol w="2639695"/>
              </a:tblGrid>
              <a:tr h="1175385"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Feature</a:t>
                      </a:r>
                      <a:endParaRPr sz="28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Manual System</a:t>
                      </a:r>
                      <a:endParaRPr sz="28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Proposed System</a:t>
                      </a:r>
                      <a:endParaRPr sz="28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</a:tr>
              <a:tr h="48514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Data Storage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Paper registers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Centralized DB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</a:tr>
              <a:tr h="525145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Security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 encryption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bcrypt hashing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</a:tr>
              <a:tr h="52451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Complaint Handling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Manual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Online tracking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</a:tr>
              <a:tr h="525145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Lifecycle Tracking</a:t>
                      </a:r>
                      <a:endParaRPr sz="2000" b="1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Not available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pitchFamily="16" charset="0"/>
                          <a:cs typeface="Times New Roman" panose="02020603050405020304" pitchFamily="16" charset="0"/>
                        </a:rPr>
                        <a:t>Automated</a:t>
                      </a:r>
                      <a:endParaRPr sz="2000">
                        <a:latin typeface="Times New Roman" panose="02020603050405020304" pitchFamily="16" charset="0"/>
                        <a:cs typeface="Times New Roman" panose="02020603050405020304" pitchFamily="16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Conclusion and Future work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763395"/>
            <a:ext cx="6997700" cy="4278313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Conclusion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Successfully developed web-based PG management system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Improved efficiency and transparency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Achieved SDG 11 alignment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Secure and scalable architecture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Future Work</a:t>
            </a:r>
            <a:endParaRPr lang="en-US" alt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Online payment integration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SMS/Email alerts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Cloud deployment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Multi-PG scalability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r>
              <a:rPr lang="en-US" altLang="en-US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Mobile application version</a:t>
            </a:r>
            <a:endParaRPr lang="en-US" alt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Research and References</a:t>
            </a:r>
            <a:endParaRPr lang="en-IN" b="1" dirty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763395"/>
            <a:ext cx="6997700" cy="4278313"/>
          </a:xfrm>
        </p:spPr>
        <p:txBody>
          <a:bodyPr/>
          <a:p>
            <a:pPr lvl="1"/>
            <a:r>
              <a:rPr lang="en-US" altLang="en-GB"/>
              <a:t>Sommerville, I. (2011). Software Engineering (9th Edition). Addison-Wesley.</a:t>
            </a:r>
            <a:endParaRPr lang="en-US" altLang="en-GB"/>
          </a:p>
          <a:p>
            <a:pPr lvl="1"/>
            <a:r>
              <a:rPr lang="en-US" altLang="en-GB"/>
              <a:t>Royce, W. W. (1970). Managing the Development of Large Software Systems. Proceedings of IEEE WESCON.</a:t>
            </a:r>
            <a:endParaRPr lang="en-US" altLang="en-GB"/>
          </a:p>
          <a:p>
            <a:pPr lvl="1"/>
            <a:r>
              <a:rPr lang="en-US" altLang="en-GB"/>
              <a:t>Bassil, Y. (2012). A Simulation Model for the Waterfall Software Development Life Cycle. International Journal of Engineering and Technology.</a:t>
            </a:r>
            <a:endParaRPr lang="en-US" altLang="en-GB"/>
          </a:p>
          <a:p>
            <a:pPr lvl="1"/>
            <a:r>
              <a:rPr lang="en-US" altLang="en-GB"/>
              <a:t>Kirvan, P., Lutkevich, B., &amp; Lewis, S. (2024). Waterfall Model – Definition and Guide. TechTarget.</a:t>
            </a:r>
            <a:endParaRPr lang="en-US" altLang="en-GB"/>
          </a:p>
          <a:p>
            <a:pPr lvl="1"/>
            <a:r>
              <a:rPr lang="en-US" altLang="en-GB"/>
              <a:t>GeeksforGeeks. (2026). Waterfall Model in Software Engineering.</a:t>
            </a:r>
            <a:endParaRPr lang="en-US" altLang="en-GB"/>
          </a:p>
          <a:p>
            <a:pPr lvl="1"/>
            <a:r>
              <a:rPr lang="en-US" altLang="en-GB"/>
              <a:t>Rastogi, V. (2015). Software Development Life Cycle Models and Methodologies. International Journal of Advanced Software Research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1"/>
          <p:cNvSpPr/>
          <p:nvPr/>
        </p:nvSpPr>
        <p:spPr>
          <a:xfrm>
            <a:off x="647700" y="3057525"/>
            <a:ext cx="9070975" cy="1262063"/>
          </a:xfrm>
          <a:prstGeom prst="rect">
            <a:avLst/>
          </a:prstGeom>
          <a:noFill/>
          <a:ln w="9525">
            <a:noFill/>
          </a:ln>
        </p:spPr>
        <p:txBody>
          <a:bodyPr lIns="0" tIns="31680" rIns="0" bIns="0" anchor="ctr" anchorCtr="0"/>
          <a:p>
            <a:pPr algn="ctr" defTabSz="4572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6" charset="0"/>
                <a:cs typeface="DejaVu Sans" charset="0"/>
              </a:rPr>
              <a:t>Thank You...!!</a:t>
            </a:r>
            <a:endParaRPr lang="en-IN" altLang="en-US" sz="3600" b="1" dirty="0">
              <a:solidFill>
                <a:srgbClr val="000000"/>
              </a:solidFill>
              <a:latin typeface="Times New Roman" panose="02020603050405020304" pitchFamily="16" charset="0"/>
              <a:ea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551*325"/>
  <p:tag name="TABLE_ENDDRAG_RECT" val="52*232*551*325"/>
</p:tagLst>
</file>

<file path=ppt/tags/tag6.xml><?xml version="1.0" encoding="utf-8"?>
<p:tagLst xmlns:p="http://schemas.openxmlformats.org/presentationml/2006/main">
  <p:tag name="TABLE_ENDDRAG_ORIGIN_RECT" val="623*218"/>
  <p:tag name="TABLE_ENDDRAG_RECT" val="52*187*623*218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6445</Words>
  <Application>WPS Presentation</Application>
  <PresentationFormat>Custom</PresentationFormat>
  <Paragraphs>240</Paragraphs>
  <Slides>20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Trebuchet MS</vt:lpstr>
      <vt:lpstr>Wingdings 3</vt:lpstr>
      <vt:lpstr>Arial</vt:lpstr>
      <vt:lpstr>Times New Roman</vt:lpstr>
      <vt:lpstr>DejaVu Sans</vt:lpstr>
      <vt:lpstr>Calibri</vt:lpstr>
      <vt:lpstr>Microsoft YaHei</vt:lpstr>
      <vt:lpstr>Arial Unicode MS</vt:lpstr>
      <vt:lpstr>Facet</vt:lpstr>
      <vt:lpstr>1_Facet</vt:lpstr>
      <vt:lpstr>PowerPoint 演示文稿</vt:lpstr>
      <vt:lpstr>Introduction</vt:lpstr>
      <vt:lpstr>Introduction</vt:lpstr>
      <vt:lpstr>Introduction</vt:lpstr>
      <vt:lpstr>Literature Survey</vt:lpstr>
      <vt:lpstr>Limitations of Existing Systems</vt:lpstr>
      <vt:lpstr>Literature Survey</vt:lpstr>
      <vt:lpstr>Problem statement and Objectives</vt:lpstr>
      <vt:lpstr>Proposed Methodology</vt:lpstr>
      <vt:lpstr>Proposed Methodology</vt:lpstr>
      <vt:lpstr>PowerPoint 演示文稿</vt:lpstr>
      <vt:lpstr>Experimental Setup</vt:lpstr>
      <vt:lpstr>Implementation</vt:lpstr>
      <vt:lpstr>Implementation</vt:lpstr>
      <vt:lpstr>Implementation</vt:lpstr>
      <vt:lpstr>Results and Analysis</vt:lpstr>
      <vt:lpstr>Results and Analysis</vt:lpstr>
      <vt:lpstr>Conclusion and Future work</vt:lpstr>
      <vt:lpstr>Research and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SWAYAM ROUT</cp:lastModifiedBy>
  <cp:revision>45</cp:revision>
  <dcterms:created xsi:type="dcterms:W3CDTF">2017-10-25T08:22:00Z</dcterms:created>
  <dcterms:modified xsi:type="dcterms:W3CDTF">2026-03-09T21:01:18Z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  <property fmtid="{D5CDD505-2E9C-101B-9397-08002B2CF9AE}" pid="12" name="ICV">
    <vt:lpwstr>586A5BBDE6EF401E94044776465D6DC3_13</vt:lpwstr>
  </property>
  <property fmtid="{D5CDD505-2E9C-101B-9397-08002B2CF9AE}" pid="13" name="KSOProductBuildVer">
    <vt:lpwstr>2057-12.2.0.23197</vt:lpwstr>
  </property>
</Properties>
</file>